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66" r:id="rId2"/>
    <p:sldId id="260" r:id="rId3"/>
    <p:sldId id="258" r:id="rId4"/>
    <p:sldId id="263" r:id="rId5"/>
    <p:sldId id="262" r:id="rId6"/>
    <p:sldId id="264" r:id="rId7"/>
    <p:sldId id="265" r:id="rId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p:scale>
          <a:sx n="75" d="100"/>
          <a:sy n="75" d="100"/>
        </p:scale>
        <p:origin x="1896" y="9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6.emf"/></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smtClean="0"/>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CDEFBE09-8C73-46EE-978D-B569E1B0127A}" type="datetimeFigureOut">
              <a:rPr lang="en-IN" smtClean="0"/>
              <a:t>10-04-2026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C4BC94D-3A94-4EA9-B753-F4B611E0F0B8}" type="slidenum">
              <a:rPr lang="en-IN" smtClean="0"/>
              <a:t>‹#›</a:t>
            </a:fld>
            <a:endParaRPr lang="en-IN"/>
          </a:p>
        </p:txBody>
      </p:sp>
    </p:spTree>
    <p:extLst>
      <p:ext uri="{BB962C8B-B14F-4D97-AF65-F5344CB8AC3E}">
        <p14:creationId xmlns:p14="http://schemas.microsoft.com/office/powerpoint/2010/main" val="42835533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3"/>
          <p:cNvSpPr>
            <a:spLocks noGrp="1"/>
          </p:cNvSpPr>
          <p:nvPr>
            <p:ph type="dt" sz="half" idx="10"/>
          </p:nvPr>
        </p:nvSpPr>
        <p:spPr/>
        <p:txBody>
          <a:bodyPr/>
          <a:lstStyle/>
          <a:p>
            <a:fld id="{CDEFBE09-8C73-46EE-978D-B569E1B0127A}" type="datetimeFigureOut">
              <a:rPr lang="en-IN" smtClean="0"/>
              <a:t>10-04-2026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C4BC94D-3A94-4EA9-B753-F4B611E0F0B8}" type="slidenum">
              <a:rPr lang="en-IN" smtClean="0"/>
              <a:t>‹#›</a:t>
            </a:fld>
            <a:endParaRPr lang="en-IN"/>
          </a:p>
        </p:txBody>
      </p:sp>
    </p:spTree>
    <p:extLst>
      <p:ext uri="{BB962C8B-B14F-4D97-AF65-F5344CB8AC3E}">
        <p14:creationId xmlns:p14="http://schemas.microsoft.com/office/powerpoint/2010/main" val="6644746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CDEFBE09-8C73-46EE-978D-B569E1B0127A}" type="datetimeFigureOut">
              <a:rPr lang="en-IN" smtClean="0"/>
              <a:t>10-04-2026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C4BC94D-3A94-4EA9-B753-F4B611E0F0B8}" type="slidenum">
              <a:rPr lang="en-IN" smtClean="0"/>
              <a:t>‹#›</a:t>
            </a:fld>
            <a:endParaRPr lang="en-IN"/>
          </a:p>
        </p:txBody>
      </p:sp>
    </p:spTree>
    <p:extLst>
      <p:ext uri="{BB962C8B-B14F-4D97-AF65-F5344CB8AC3E}">
        <p14:creationId xmlns:p14="http://schemas.microsoft.com/office/powerpoint/2010/main" val="18875139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CDEFBE09-8C73-46EE-978D-B569E1B0127A}" type="datetimeFigureOut">
              <a:rPr lang="en-IN" smtClean="0"/>
              <a:t>10-04-2026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C4BC94D-3A94-4EA9-B753-F4B611E0F0B8}" type="slidenum">
              <a:rPr lang="en-IN" smtClean="0"/>
              <a:t>‹#›</a:t>
            </a:fld>
            <a:endParaRPr lang="en-IN"/>
          </a:p>
        </p:txBody>
      </p:sp>
    </p:spTree>
    <p:extLst>
      <p:ext uri="{BB962C8B-B14F-4D97-AF65-F5344CB8AC3E}">
        <p14:creationId xmlns:p14="http://schemas.microsoft.com/office/powerpoint/2010/main" val="28807545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CDEFBE09-8C73-46EE-978D-B569E1B0127A}" type="datetimeFigureOut">
              <a:rPr lang="en-IN" smtClean="0"/>
              <a:t>10-04-2026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AC4BC94D-3A94-4EA9-B753-F4B611E0F0B8}" type="slidenum">
              <a:rPr lang="en-IN" smtClean="0"/>
              <a:t>‹#›</a:t>
            </a:fld>
            <a:endParaRPr lang="en-IN"/>
          </a:p>
        </p:txBody>
      </p:sp>
    </p:spTree>
    <p:extLst>
      <p:ext uri="{BB962C8B-B14F-4D97-AF65-F5344CB8AC3E}">
        <p14:creationId xmlns:p14="http://schemas.microsoft.com/office/powerpoint/2010/main" val="33754256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7" name="Date Placeholder 2"/>
          <p:cNvSpPr>
            <a:spLocks noGrp="1"/>
          </p:cNvSpPr>
          <p:nvPr>
            <p:ph type="dt" sz="half" idx="10"/>
          </p:nvPr>
        </p:nvSpPr>
        <p:spPr/>
        <p:txBody>
          <a:bodyPr/>
          <a:lstStyle/>
          <a:p>
            <a:fld id="{CDEFBE09-8C73-46EE-978D-B569E1B0127A}" type="datetimeFigureOut">
              <a:rPr lang="en-IN" smtClean="0"/>
              <a:t>10-04-2026</a:t>
            </a:fld>
            <a:endParaRPr lang="en-IN"/>
          </a:p>
        </p:txBody>
      </p:sp>
      <p:sp>
        <p:nvSpPr>
          <p:cNvPr id="5" name="Footer Placeholder 3"/>
          <p:cNvSpPr>
            <a:spLocks noGrp="1"/>
          </p:cNvSpPr>
          <p:nvPr>
            <p:ph type="ftr" sz="quarter" idx="11"/>
          </p:nvPr>
        </p:nvSpPr>
        <p:spPr/>
        <p:txBody>
          <a:bodyPr/>
          <a:lstStyle/>
          <a:p>
            <a:endParaRPr lang="en-IN"/>
          </a:p>
        </p:txBody>
      </p:sp>
      <p:sp>
        <p:nvSpPr>
          <p:cNvPr id="6" name="Slide Number Placeholder 4"/>
          <p:cNvSpPr>
            <a:spLocks noGrp="1"/>
          </p:cNvSpPr>
          <p:nvPr>
            <p:ph type="sldNum" sz="quarter" idx="12"/>
          </p:nvPr>
        </p:nvSpPr>
        <p:spPr/>
        <p:txBody>
          <a:bodyPr/>
          <a:lstStyle/>
          <a:p>
            <a:fld id="{AC4BC94D-3A94-4EA9-B753-F4B611E0F0B8}" type="slidenum">
              <a:rPr lang="en-IN" smtClean="0"/>
              <a:t>‹#›</a:t>
            </a:fld>
            <a:endParaRPr lang="en-IN"/>
          </a:p>
        </p:txBody>
      </p:sp>
    </p:spTree>
    <p:extLst>
      <p:ext uri="{BB962C8B-B14F-4D97-AF65-F5344CB8AC3E}">
        <p14:creationId xmlns:p14="http://schemas.microsoft.com/office/powerpoint/2010/main" val="19838260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CDEFBE09-8C73-46EE-978D-B569E1B0127A}" type="datetimeFigureOut">
              <a:rPr lang="en-IN" smtClean="0"/>
              <a:t>10-04-2026</a:t>
            </a:fld>
            <a:endParaRPr lang="en-IN"/>
          </a:p>
        </p:txBody>
      </p:sp>
      <p:sp>
        <p:nvSpPr>
          <p:cNvPr id="5" name="Footer Placeholder 2"/>
          <p:cNvSpPr>
            <a:spLocks noGrp="1"/>
          </p:cNvSpPr>
          <p:nvPr>
            <p:ph type="ftr" sz="quarter" idx="11"/>
          </p:nvPr>
        </p:nvSpPr>
        <p:spPr/>
        <p:txBody>
          <a:bodyPr/>
          <a:lstStyle/>
          <a:p>
            <a:endParaRPr lang="en-IN"/>
          </a:p>
        </p:txBody>
      </p:sp>
      <p:sp>
        <p:nvSpPr>
          <p:cNvPr id="6" name="Slide Number Placeholder 3"/>
          <p:cNvSpPr>
            <a:spLocks noGrp="1"/>
          </p:cNvSpPr>
          <p:nvPr>
            <p:ph type="sldNum" sz="quarter" idx="12"/>
          </p:nvPr>
        </p:nvSpPr>
        <p:spPr/>
        <p:txBody>
          <a:bodyPr/>
          <a:lstStyle/>
          <a:p>
            <a:fld id="{AC4BC94D-3A94-4EA9-B753-F4B611E0F0B8}" type="slidenum">
              <a:rPr lang="en-IN" smtClean="0"/>
              <a:t>‹#›</a:t>
            </a:fld>
            <a:endParaRPr lang="en-IN"/>
          </a:p>
        </p:txBody>
      </p:sp>
    </p:spTree>
    <p:extLst>
      <p:ext uri="{BB962C8B-B14F-4D97-AF65-F5344CB8AC3E}">
        <p14:creationId xmlns:p14="http://schemas.microsoft.com/office/powerpoint/2010/main" val="38298045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7" name="Date Placeholder 4"/>
          <p:cNvSpPr>
            <a:spLocks noGrp="1"/>
          </p:cNvSpPr>
          <p:nvPr>
            <p:ph type="dt" sz="half" idx="10"/>
          </p:nvPr>
        </p:nvSpPr>
        <p:spPr/>
        <p:txBody>
          <a:bodyPr/>
          <a:lstStyle/>
          <a:p>
            <a:fld id="{CDEFBE09-8C73-46EE-978D-B569E1B0127A}" type="datetimeFigureOut">
              <a:rPr lang="en-IN" smtClean="0"/>
              <a:t>10-04-2026</a:t>
            </a:fld>
            <a:endParaRPr lang="en-IN"/>
          </a:p>
        </p:txBody>
      </p:sp>
      <p:sp>
        <p:nvSpPr>
          <p:cNvPr id="5" name="Footer Placeholder 5"/>
          <p:cNvSpPr>
            <a:spLocks noGrp="1"/>
          </p:cNvSpPr>
          <p:nvPr>
            <p:ph type="ftr" sz="quarter" idx="11"/>
          </p:nvPr>
        </p:nvSpPr>
        <p:spPr/>
        <p:txBody>
          <a:bodyPr/>
          <a:lstStyle/>
          <a:p>
            <a:endParaRPr lang="en-IN"/>
          </a:p>
        </p:txBody>
      </p:sp>
      <p:sp>
        <p:nvSpPr>
          <p:cNvPr id="6" name="Slide Number Placeholder 6"/>
          <p:cNvSpPr>
            <a:spLocks noGrp="1"/>
          </p:cNvSpPr>
          <p:nvPr>
            <p:ph type="sldNum" sz="quarter" idx="12"/>
          </p:nvPr>
        </p:nvSpPr>
        <p:spPr/>
        <p:txBody>
          <a:bodyPr/>
          <a:lstStyle/>
          <a:p>
            <a:fld id="{AC4BC94D-3A94-4EA9-B753-F4B611E0F0B8}" type="slidenum">
              <a:rPr lang="en-IN" smtClean="0"/>
              <a:t>‹#›</a:t>
            </a:fld>
            <a:endParaRPr lang="en-IN"/>
          </a:p>
        </p:txBody>
      </p:sp>
    </p:spTree>
    <p:extLst>
      <p:ext uri="{BB962C8B-B14F-4D97-AF65-F5344CB8AC3E}">
        <p14:creationId xmlns:p14="http://schemas.microsoft.com/office/powerpoint/2010/main" val="41141865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CDEFBE09-8C73-46EE-978D-B569E1B0127A}" type="datetimeFigureOut">
              <a:rPr lang="en-IN" smtClean="0"/>
              <a:t>10-04-2026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C4BC94D-3A94-4EA9-B753-F4B611E0F0B8}" type="slidenum">
              <a:rPr lang="en-IN" smtClean="0"/>
              <a:t>‹#›</a:t>
            </a:fld>
            <a:endParaRPr lang="en-IN"/>
          </a:p>
        </p:txBody>
      </p:sp>
    </p:spTree>
    <p:extLst>
      <p:ext uri="{BB962C8B-B14F-4D97-AF65-F5344CB8AC3E}">
        <p14:creationId xmlns:p14="http://schemas.microsoft.com/office/powerpoint/2010/main" val="2392359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CDEFBE09-8C73-46EE-978D-B569E1B0127A}" type="datetimeFigureOut">
              <a:rPr lang="en-IN" smtClean="0"/>
              <a:t>10-04-2026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C4BC94D-3A94-4EA9-B753-F4B611E0F0B8}" type="slidenum">
              <a:rPr lang="en-IN" smtClean="0"/>
              <a:t>‹#›</a:t>
            </a:fld>
            <a:endParaRPr lang="en-IN"/>
          </a:p>
        </p:txBody>
      </p:sp>
    </p:spTree>
    <p:extLst>
      <p:ext uri="{BB962C8B-B14F-4D97-AF65-F5344CB8AC3E}">
        <p14:creationId xmlns:p14="http://schemas.microsoft.com/office/powerpoint/2010/main" val="40931247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smtClean="0"/>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4" name="Date Placeholder 3"/>
          <p:cNvSpPr>
            <a:spLocks noGrp="1"/>
          </p:cNvSpPr>
          <p:nvPr>
            <p:ph type="dt" sz="half" idx="10"/>
          </p:nvPr>
        </p:nvSpPr>
        <p:spPr/>
        <p:txBody>
          <a:bodyPr/>
          <a:lstStyle/>
          <a:p>
            <a:fld id="{CDEFBE09-8C73-46EE-978D-B569E1B0127A}" type="datetimeFigureOut">
              <a:rPr lang="en-IN" smtClean="0"/>
              <a:t>10-04-2026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C4BC94D-3A94-4EA9-B753-F4B611E0F0B8}" type="slidenum">
              <a:rPr lang="en-IN" smtClean="0"/>
              <a:t>‹#›</a:t>
            </a:fld>
            <a:endParaRPr lang="en-IN"/>
          </a:p>
        </p:txBody>
      </p:sp>
    </p:spTree>
    <p:extLst>
      <p:ext uri="{BB962C8B-B14F-4D97-AF65-F5344CB8AC3E}">
        <p14:creationId xmlns:p14="http://schemas.microsoft.com/office/powerpoint/2010/main" val="401380852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smtClean="0"/>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smtClean="0"/>
              <a:t>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4" name="Date Placeholder 3"/>
          <p:cNvSpPr>
            <a:spLocks noGrp="1"/>
          </p:cNvSpPr>
          <p:nvPr>
            <p:ph type="dt" sz="half" idx="10"/>
          </p:nvPr>
        </p:nvSpPr>
        <p:spPr/>
        <p:txBody>
          <a:bodyPr/>
          <a:lstStyle/>
          <a:p>
            <a:fld id="{CDEFBE09-8C73-46EE-978D-B569E1B0127A}" type="datetimeFigureOut">
              <a:rPr lang="en-IN" smtClean="0"/>
              <a:t>10-04-2026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C4BC94D-3A94-4EA9-B753-F4B611E0F0B8}" type="slidenum">
              <a:rPr lang="en-IN" smtClean="0"/>
              <a:t>‹#›</a:t>
            </a:fld>
            <a:endParaRPr lang="en-IN"/>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356709282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CDEFBE09-8C73-46EE-978D-B569E1B0127A}" type="datetimeFigureOut">
              <a:rPr lang="en-IN" smtClean="0"/>
              <a:t>10-04-2026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C4BC94D-3A94-4EA9-B753-F4B611E0F0B8}" type="slidenum">
              <a:rPr lang="en-IN" smtClean="0"/>
              <a:t>‹#›</a:t>
            </a:fld>
            <a:endParaRPr lang="en-IN"/>
          </a:p>
        </p:txBody>
      </p:sp>
    </p:spTree>
    <p:extLst>
      <p:ext uri="{BB962C8B-B14F-4D97-AF65-F5344CB8AC3E}">
        <p14:creationId xmlns:p14="http://schemas.microsoft.com/office/powerpoint/2010/main" val="1645312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smtClean="0"/>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CDEFBE09-8C73-46EE-978D-B569E1B0127A}" type="datetimeFigureOut">
              <a:rPr lang="en-IN" smtClean="0"/>
              <a:t>10-04-2026</a:t>
            </a:fld>
            <a:endParaRPr lang="en-IN"/>
          </a:p>
        </p:txBody>
      </p:sp>
      <p:sp>
        <p:nvSpPr>
          <p:cNvPr id="4"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C4BC94D-3A94-4EA9-B753-F4B611E0F0B8}" type="slidenum">
              <a:rPr lang="en-IN" smtClean="0"/>
              <a:t>‹#›</a:t>
            </a:fld>
            <a:endParaRPr lang="en-IN"/>
          </a:p>
        </p:txBody>
      </p:sp>
    </p:spTree>
    <p:extLst>
      <p:ext uri="{BB962C8B-B14F-4D97-AF65-F5344CB8AC3E}">
        <p14:creationId xmlns:p14="http://schemas.microsoft.com/office/powerpoint/2010/main" val="82181431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smtClean="0"/>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CDEFBE09-8C73-46EE-978D-B569E1B0127A}" type="datetimeFigureOut">
              <a:rPr lang="en-IN" smtClean="0"/>
              <a:t>10-04-2026</a:t>
            </a:fld>
            <a:endParaRPr lang="en-IN"/>
          </a:p>
        </p:txBody>
      </p:sp>
      <p:sp>
        <p:nvSpPr>
          <p:cNvPr id="4"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C4BC94D-3A94-4EA9-B753-F4B611E0F0B8}" type="slidenum">
              <a:rPr lang="en-IN" smtClean="0"/>
              <a:t>‹#›</a:t>
            </a:fld>
            <a:endParaRPr lang="en-IN"/>
          </a:p>
        </p:txBody>
      </p:sp>
    </p:spTree>
    <p:extLst>
      <p:ext uri="{BB962C8B-B14F-4D97-AF65-F5344CB8AC3E}">
        <p14:creationId xmlns:p14="http://schemas.microsoft.com/office/powerpoint/2010/main" val="267722470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CDEFBE09-8C73-46EE-978D-B569E1B0127A}" type="datetimeFigureOut">
              <a:rPr lang="en-IN" smtClean="0"/>
              <a:t>10-04-2026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C4BC94D-3A94-4EA9-B753-F4B611E0F0B8}" type="slidenum">
              <a:rPr lang="en-IN" smtClean="0"/>
              <a:t>‹#›</a:t>
            </a:fld>
            <a:endParaRPr lang="en-IN"/>
          </a:p>
        </p:txBody>
      </p:sp>
    </p:spTree>
    <p:extLst>
      <p:ext uri="{BB962C8B-B14F-4D97-AF65-F5344CB8AC3E}">
        <p14:creationId xmlns:p14="http://schemas.microsoft.com/office/powerpoint/2010/main" val="277849380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CDEFBE09-8C73-46EE-978D-B569E1B0127A}" type="datetimeFigureOut">
              <a:rPr lang="en-IN" smtClean="0"/>
              <a:t>10-04-2026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C4BC94D-3A94-4EA9-B753-F4B611E0F0B8}" type="slidenum">
              <a:rPr lang="en-IN" smtClean="0"/>
              <a:t>‹#›</a:t>
            </a:fld>
            <a:endParaRPr lang="en-IN"/>
          </a:p>
        </p:txBody>
      </p:sp>
    </p:spTree>
    <p:extLst>
      <p:ext uri="{BB962C8B-B14F-4D97-AF65-F5344CB8AC3E}">
        <p14:creationId xmlns:p14="http://schemas.microsoft.com/office/powerpoint/2010/main" val="23455987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smtClean="0"/>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CDEFBE09-8C73-46EE-978D-B569E1B0127A}" type="datetimeFigureOut">
              <a:rPr lang="en-IN" smtClean="0"/>
              <a:t>10-04-2026</a:t>
            </a:fld>
            <a:endParaRPr lang="en-IN"/>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IN"/>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AC4BC94D-3A94-4EA9-B753-F4B611E0F0B8}" type="slidenum">
              <a:rPr lang="en-IN" smtClean="0"/>
              <a:t>‹#›</a:t>
            </a:fld>
            <a:endParaRPr lang="en-IN"/>
          </a:p>
        </p:txBody>
      </p:sp>
    </p:spTree>
    <p:extLst>
      <p:ext uri="{BB962C8B-B14F-4D97-AF65-F5344CB8AC3E}">
        <p14:creationId xmlns:p14="http://schemas.microsoft.com/office/powerpoint/2010/main" val="1928796310"/>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7.xml"/><Relationship Id="rId1" Type="http://schemas.openxmlformats.org/officeDocument/2006/relationships/vmlDrawing" Target="../drawings/vmlDrawing1.vml"/><Relationship Id="rId4" Type="http://schemas.openxmlformats.org/officeDocument/2006/relationships/image" Target="../media/image6.emf"/></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38814" y="874222"/>
            <a:ext cx="9726405" cy="1436716"/>
          </a:xfrm>
        </p:spPr>
        <p:txBody>
          <a:bodyPr/>
          <a:lstStyle/>
          <a:p>
            <a:r>
              <a:rPr lang="en-US" sz="4800" dirty="0">
                <a:solidFill>
                  <a:schemeClr val="accent2">
                    <a:lumMod val="60000"/>
                    <a:lumOff val="40000"/>
                  </a:schemeClr>
                </a:solidFill>
                <a:latin typeface="Copperplate Gothic Light" panose="020E0507020206020404" pitchFamily="34" charset="0"/>
              </a:rPr>
              <a:t>AI Trust Guard : Fake Review Detection Agent</a:t>
            </a:r>
            <a:endParaRPr lang="en-IN" sz="4800" dirty="0"/>
          </a:p>
        </p:txBody>
      </p:sp>
      <p:sp>
        <p:nvSpPr>
          <p:cNvPr id="3" name="Subtitle 2"/>
          <p:cNvSpPr>
            <a:spLocks noGrp="1"/>
          </p:cNvSpPr>
          <p:nvPr>
            <p:ph type="subTitle" idx="1"/>
          </p:nvPr>
        </p:nvSpPr>
        <p:spPr>
          <a:xfrm>
            <a:off x="1038577" y="2709949"/>
            <a:ext cx="6068806" cy="2369127"/>
          </a:xfrm>
        </p:spPr>
        <p:txBody>
          <a:bodyPr>
            <a:normAutofit/>
          </a:bodyPr>
          <a:lstStyle/>
          <a:p>
            <a:r>
              <a:rPr lang="en-US" dirty="0" err="1">
                <a:solidFill>
                  <a:schemeClr val="tx1"/>
                </a:solidFill>
                <a:latin typeface="Copperplate Gothic Light" panose="020E0507020206020404" pitchFamily="34" charset="0"/>
              </a:rPr>
              <a:t>Harshitha</a:t>
            </a:r>
            <a:r>
              <a:rPr lang="en-US" dirty="0">
                <a:solidFill>
                  <a:schemeClr val="tx1"/>
                </a:solidFill>
                <a:latin typeface="Copperplate Gothic Light" panose="020E0507020206020404" pitchFamily="34" charset="0"/>
              </a:rPr>
              <a:t> K	-	3</a:t>
            </a:r>
            <a:r>
              <a:rPr lang="en-US" baseline="30000" dirty="0">
                <a:solidFill>
                  <a:schemeClr val="tx1"/>
                </a:solidFill>
                <a:latin typeface="Copperplate Gothic Light" panose="020E0507020206020404" pitchFamily="34" charset="0"/>
              </a:rPr>
              <a:t>rd</a:t>
            </a:r>
            <a:r>
              <a:rPr lang="en-US" dirty="0">
                <a:solidFill>
                  <a:schemeClr val="tx1"/>
                </a:solidFill>
                <a:latin typeface="Copperplate Gothic Light" panose="020E0507020206020404" pitchFamily="34" charset="0"/>
              </a:rPr>
              <a:t> year</a:t>
            </a:r>
            <a:br>
              <a:rPr lang="en-US" dirty="0">
                <a:solidFill>
                  <a:schemeClr val="tx1"/>
                </a:solidFill>
                <a:latin typeface="Copperplate Gothic Light" panose="020E0507020206020404" pitchFamily="34" charset="0"/>
              </a:rPr>
            </a:br>
            <a:r>
              <a:rPr lang="en-US" dirty="0" err="1">
                <a:solidFill>
                  <a:schemeClr val="tx1"/>
                </a:solidFill>
                <a:latin typeface="Copperplate Gothic Light" panose="020E0507020206020404" pitchFamily="34" charset="0"/>
              </a:rPr>
              <a:t>Anusha</a:t>
            </a:r>
            <a:r>
              <a:rPr lang="en-US" dirty="0">
                <a:solidFill>
                  <a:schemeClr val="tx1"/>
                </a:solidFill>
                <a:latin typeface="Copperplate Gothic Light" panose="020E0507020206020404" pitchFamily="34" charset="0"/>
              </a:rPr>
              <a:t> n c </a:t>
            </a:r>
            <a:r>
              <a:rPr lang="en-US" dirty="0" err="1">
                <a:solidFill>
                  <a:schemeClr val="tx1"/>
                </a:solidFill>
                <a:latin typeface="Copperplate Gothic Light" panose="020E0507020206020404" pitchFamily="34" charset="0"/>
              </a:rPr>
              <a:t>gowda</a:t>
            </a:r>
            <a:r>
              <a:rPr lang="en-US" dirty="0">
                <a:solidFill>
                  <a:schemeClr val="tx1"/>
                </a:solidFill>
                <a:latin typeface="Copperplate Gothic Light" panose="020E0507020206020404" pitchFamily="34" charset="0"/>
              </a:rPr>
              <a:t>	-	3</a:t>
            </a:r>
            <a:r>
              <a:rPr lang="en-US" baseline="30000" dirty="0">
                <a:solidFill>
                  <a:schemeClr val="tx1"/>
                </a:solidFill>
                <a:latin typeface="Copperplate Gothic Light" panose="020E0507020206020404" pitchFamily="34" charset="0"/>
              </a:rPr>
              <a:t>rd</a:t>
            </a:r>
            <a:r>
              <a:rPr lang="en-US" dirty="0">
                <a:solidFill>
                  <a:schemeClr val="tx1"/>
                </a:solidFill>
                <a:latin typeface="Copperplate Gothic Light" panose="020E0507020206020404" pitchFamily="34" charset="0"/>
              </a:rPr>
              <a:t> year</a:t>
            </a:r>
            <a:br>
              <a:rPr lang="en-US" dirty="0">
                <a:solidFill>
                  <a:schemeClr val="tx1"/>
                </a:solidFill>
                <a:latin typeface="Copperplate Gothic Light" panose="020E0507020206020404" pitchFamily="34" charset="0"/>
              </a:rPr>
            </a:br>
            <a:r>
              <a:rPr lang="en-US" dirty="0" err="1">
                <a:solidFill>
                  <a:schemeClr val="tx1"/>
                </a:solidFill>
                <a:latin typeface="Copperplate Gothic Light" panose="020E0507020206020404" pitchFamily="34" charset="0"/>
              </a:rPr>
              <a:t>Ramitha</a:t>
            </a:r>
            <a:r>
              <a:rPr lang="en-US" dirty="0">
                <a:solidFill>
                  <a:schemeClr val="tx1"/>
                </a:solidFill>
                <a:latin typeface="Copperplate Gothic Light" panose="020E0507020206020404" pitchFamily="34" charset="0"/>
              </a:rPr>
              <a:t> R	-	2</a:t>
            </a:r>
            <a:r>
              <a:rPr lang="en-US" baseline="30000" dirty="0">
                <a:solidFill>
                  <a:schemeClr val="tx1"/>
                </a:solidFill>
                <a:latin typeface="Copperplate Gothic Light" panose="020E0507020206020404" pitchFamily="34" charset="0"/>
              </a:rPr>
              <a:t>nd</a:t>
            </a:r>
            <a:r>
              <a:rPr lang="en-US" dirty="0">
                <a:solidFill>
                  <a:schemeClr val="tx1"/>
                </a:solidFill>
                <a:latin typeface="Copperplate Gothic Light" panose="020E0507020206020404" pitchFamily="34" charset="0"/>
              </a:rPr>
              <a:t> year</a:t>
            </a:r>
            <a:br>
              <a:rPr lang="en-US" dirty="0">
                <a:solidFill>
                  <a:schemeClr val="tx1"/>
                </a:solidFill>
                <a:latin typeface="Copperplate Gothic Light" panose="020E0507020206020404" pitchFamily="34" charset="0"/>
              </a:rPr>
            </a:br>
            <a:r>
              <a:rPr lang="en-US" dirty="0" err="1">
                <a:solidFill>
                  <a:schemeClr val="tx1"/>
                </a:solidFill>
                <a:latin typeface="Copperplate Gothic Light" panose="020E0507020206020404" pitchFamily="34" charset="0"/>
              </a:rPr>
              <a:t>Ranju</a:t>
            </a:r>
            <a:r>
              <a:rPr lang="en-US" dirty="0">
                <a:solidFill>
                  <a:schemeClr val="tx1"/>
                </a:solidFill>
                <a:latin typeface="Copperplate Gothic Light" panose="020E0507020206020404" pitchFamily="34" charset="0"/>
              </a:rPr>
              <a:t> </a:t>
            </a:r>
            <a:r>
              <a:rPr lang="en-US" dirty="0" err="1">
                <a:solidFill>
                  <a:schemeClr val="tx1"/>
                </a:solidFill>
                <a:latin typeface="Copperplate Gothic Light" panose="020E0507020206020404" pitchFamily="34" charset="0"/>
              </a:rPr>
              <a:t>Kumari</a:t>
            </a:r>
            <a:r>
              <a:rPr lang="en-US" dirty="0">
                <a:solidFill>
                  <a:schemeClr val="tx1"/>
                </a:solidFill>
                <a:latin typeface="Copperplate Gothic Light" panose="020E0507020206020404" pitchFamily="34" charset="0"/>
              </a:rPr>
              <a:t> Sharma	-	2</a:t>
            </a:r>
            <a:r>
              <a:rPr lang="en-US" baseline="30000" dirty="0">
                <a:solidFill>
                  <a:schemeClr val="tx1"/>
                </a:solidFill>
                <a:latin typeface="Copperplate Gothic Light" panose="020E0507020206020404" pitchFamily="34" charset="0"/>
              </a:rPr>
              <a:t>nd</a:t>
            </a:r>
            <a:r>
              <a:rPr lang="en-US" dirty="0">
                <a:solidFill>
                  <a:schemeClr val="tx1"/>
                </a:solidFill>
                <a:latin typeface="Copperplate Gothic Light" panose="020E0507020206020404" pitchFamily="34" charset="0"/>
              </a:rPr>
              <a:t> year</a:t>
            </a:r>
            <a:br>
              <a:rPr lang="en-US" dirty="0">
                <a:solidFill>
                  <a:schemeClr val="tx1"/>
                </a:solidFill>
                <a:latin typeface="Copperplate Gothic Light" panose="020E0507020206020404" pitchFamily="34" charset="0"/>
              </a:rPr>
            </a:br>
            <a:endParaRPr lang="en-IN" dirty="0"/>
          </a:p>
        </p:txBody>
      </p:sp>
    </p:spTree>
    <p:extLst>
      <p:ext uri="{BB962C8B-B14F-4D97-AF65-F5344CB8AC3E}">
        <p14:creationId xmlns:p14="http://schemas.microsoft.com/office/powerpoint/2010/main" val="29532702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40574" y="1255222"/>
            <a:ext cx="6126480" cy="4031873"/>
          </a:xfrm>
          <a:prstGeom prst="rect">
            <a:avLst/>
          </a:prstGeom>
        </p:spPr>
        <p:txBody>
          <a:bodyPr wrap="square">
            <a:spAutoFit/>
          </a:bodyPr>
          <a:lstStyle/>
          <a:p>
            <a:pPr algn="ctr"/>
            <a:r>
              <a:rPr lang="en-US" sz="3600" dirty="0" smtClean="0">
                <a:solidFill>
                  <a:schemeClr val="accent2">
                    <a:lumMod val="40000"/>
                    <a:lumOff val="60000"/>
                  </a:schemeClr>
                </a:solidFill>
              </a:rPr>
              <a:t>INTRODUCTION</a:t>
            </a:r>
          </a:p>
          <a:p>
            <a:endParaRPr lang="en-US" sz="2800" dirty="0">
              <a:solidFill>
                <a:schemeClr val="accent2">
                  <a:lumMod val="40000"/>
                  <a:lumOff val="60000"/>
                </a:schemeClr>
              </a:solidFill>
            </a:endParaRPr>
          </a:p>
          <a:p>
            <a:r>
              <a:rPr lang="en-US" sz="2400" dirty="0" smtClean="0">
                <a:latin typeface="Baskerville Old Face" panose="02020602080505020303" pitchFamily="18" charset="0"/>
              </a:rPr>
              <a:t>AI Trust Guard is a real-time system designed to detect fraud and reputation risks using advanced AI. It analyzes user behavior and transactions instantly to identify suspicious activities and fake identities. The system provides alerts and risk scores to support quick decision-making. Overall, it helps protect businesses, prevent fraud, and build user trust in digital platforms</a:t>
            </a:r>
            <a:r>
              <a:rPr lang="en-US" dirty="0" smtClean="0">
                <a:latin typeface="Baskerville Old Face" panose="02020602080505020303" pitchFamily="18" charset="0"/>
              </a:rPr>
              <a:t>.</a:t>
            </a:r>
            <a:endParaRPr lang="en-IN" dirty="0">
              <a:latin typeface="Baskerville Old Face" panose="02020602080505020303" pitchFamily="18" charset="0"/>
            </a:endParaRPr>
          </a:p>
        </p:txBody>
      </p:sp>
      <p:graphicFrame>
        <p:nvGraphicFramePr>
          <p:cNvPr id="3" name="Object 2"/>
          <p:cNvGraphicFramePr>
            <a:graphicFrameLocks noChangeAspect="1"/>
          </p:cNvGraphicFramePr>
          <p:nvPr>
            <p:extLst>
              <p:ext uri="{D42A27DB-BD31-4B8C-83A1-F6EECF244321}">
                <p14:modId xmlns:p14="http://schemas.microsoft.com/office/powerpoint/2010/main" val="1318139205"/>
              </p:ext>
            </p:extLst>
          </p:nvPr>
        </p:nvGraphicFramePr>
        <p:xfrm>
          <a:off x="6458990" y="1997022"/>
          <a:ext cx="5700880" cy="3639007"/>
        </p:xfrm>
        <a:graphic>
          <a:graphicData uri="http://schemas.openxmlformats.org/presentationml/2006/ole">
            <mc:AlternateContent xmlns:mc="http://schemas.openxmlformats.org/markup-compatibility/2006">
              <mc:Choice xmlns:v="urn:schemas-microsoft-com:vml" Requires="v">
                <p:oleObj spid="_x0000_s1033" name="Document" r:id="rId3" imgW="5731988" imgH="2581653" progId="Word.Document.12">
                  <p:embed/>
                </p:oleObj>
              </mc:Choice>
              <mc:Fallback>
                <p:oleObj name="Document" r:id="rId3" imgW="5731988" imgH="2581653" progId="Word.Document.12">
                  <p:embed/>
                  <p:pic>
                    <p:nvPicPr>
                      <p:cNvPr id="0" name=""/>
                      <p:cNvPicPr/>
                      <p:nvPr/>
                    </p:nvPicPr>
                    <p:blipFill>
                      <a:blip r:embed="rId4"/>
                      <a:stretch>
                        <a:fillRect/>
                      </a:stretch>
                    </p:blipFill>
                    <p:spPr>
                      <a:xfrm>
                        <a:off x="6458990" y="1997022"/>
                        <a:ext cx="5700880" cy="3639007"/>
                      </a:xfrm>
                      <a:prstGeom prst="rect">
                        <a:avLst/>
                      </a:prstGeom>
                    </p:spPr>
                  </p:pic>
                </p:oleObj>
              </mc:Fallback>
            </mc:AlternateContent>
          </a:graphicData>
        </a:graphic>
      </p:graphicFrame>
    </p:spTree>
    <p:extLst>
      <p:ext uri="{BB962C8B-B14F-4D97-AF65-F5344CB8AC3E}">
        <p14:creationId xmlns:p14="http://schemas.microsoft.com/office/powerpoint/2010/main" val="12027058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970309" y="1179426"/>
            <a:ext cx="4396339" cy="4195763"/>
          </a:xfrm>
        </p:spPr>
        <p:txBody>
          <a:bodyPr/>
          <a:lstStyle/>
          <a:p>
            <a:r>
              <a:rPr lang="en-US" sz="2800" b="1" dirty="0">
                <a:solidFill>
                  <a:schemeClr val="bg1"/>
                </a:solidFill>
              </a:rPr>
              <a:t>Problem Statement</a:t>
            </a:r>
          </a:p>
          <a:p>
            <a:pPr algn="just">
              <a:buFont typeface="Wingdings" panose="05000000000000000000" pitchFamily="2" charset="2"/>
              <a:buChar char="q"/>
            </a:pPr>
            <a:r>
              <a:rPr lang="en-US" dirty="0">
                <a:latin typeface="Californian FB" panose="0207040306080B030204" pitchFamily="18" charset="0"/>
              </a:rPr>
              <a:t>Traditional fraud detection is </a:t>
            </a:r>
            <a:r>
              <a:rPr lang="en-US" b="1" dirty="0">
                <a:latin typeface="Californian FB" panose="0207040306080B030204" pitchFamily="18" charset="0"/>
              </a:rPr>
              <a:t>slow and reactive</a:t>
            </a:r>
            <a:r>
              <a:rPr lang="en-US" dirty="0">
                <a:latin typeface="Californian FB" panose="0207040306080B030204" pitchFamily="18" charset="0"/>
              </a:rPr>
              <a:t> </a:t>
            </a:r>
          </a:p>
          <a:p>
            <a:pPr algn="just">
              <a:buFont typeface="Wingdings" panose="05000000000000000000" pitchFamily="2" charset="2"/>
              <a:buChar char="q"/>
            </a:pPr>
            <a:r>
              <a:rPr lang="en-US" dirty="0">
                <a:latin typeface="Californian FB" panose="0207040306080B030204" pitchFamily="18" charset="0"/>
              </a:rPr>
              <a:t>Increasing threats: </a:t>
            </a:r>
          </a:p>
          <a:p>
            <a:pPr lvl="1" algn="just">
              <a:buFont typeface="Wingdings" panose="05000000000000000000" pitchFamily="2" charset="2"/>
              <a:buChar char="q"/>
            </a:pPr>
            <a:r>
              <a:rPr lang="en-US" sz="1800" dirty="0">
                <a:latin typeface="Californian FB" panose="0207040306080B030204" pitchFamily="18" charset="0"/>
              </a:rPr>
              <a:t>Payment fraud </a:t>
            </a:r>
          </a:p>
          <a:p>
            <a:pPr lvl="1" algn="just">
              <a:buFont typeface="Wingdings" panose="05000000000000000000" pitchFamily="2" charset="2"/>
              <a:buChar char="q"/>
            </a:pPr>
            <a:r>
              <a:rPr lang="en-US" sz="1800" dirty="0">
                <a:latin typeface="Californian FB" panose="0207040306080B030204" pitchFamily="18" charset="0"/>
              </a:rPr>
              <a:t>Account takeovers </a:t>
            </a:r>
          </a:p>
          <a:p>
            <a:pPr lvl="1" algn="just">
              <a:buFont typeface="Wingdings" panose="05000000000000000000" pitchFamily="2" charset="2"/>
              <a:buChar char="q"/>
            </a:pPr>
            <a:r>
              <a:rPr lang="en-US" sz="1800" dirty="0">
                <a:latin typeface="Californian FB" panose="0207040306080B030204" pitchFamily="18" charset="0"/>
              </a:rPr>
              <a:t>Fake reviews &amp; bots </a:t>
            </a:r>
          </a:p>
          <a:p>
            <a:pPr algn="just">
              <a:buFont typeface="Wingdings" panose="05000000000000000000" pitchFamily="2" charset="2"/>
              <a:buChar char="q"/>
            </a:pPr>
            <a:r>
              <a:rPr lang="en-US" dirty="0">
                <a:latin typeface="Californian FB" panose="0207040306080B030204" pitchFamily="18" charset="0"/>
              </a:rPr>
              <a:t>Businesses lose </a:t>
            </a:r>
            <a:r>
              <a:rPr lang="en-US" b="1" dirty="0">
                <a:latin typeface="Californian FB" panose="0207040306080B030204" pitchFamily="18" charset="0"/>
              </a:rPr>
              <a:t>money, trust, and </a:t>
            </a:r>
            <a:r>
              <a:rPr lang="en-US" b="1" dirty="0" smtClean="0">
                <a:latin typeface="Californian FB" panose="0207040306080B030204" pitchFamily="18" charset="0"/>
              </a:rPr>
              <a:t>reputation.</a:t>
            </a:r>
            <a:r>
              <a:rPr lang="en-US" dirty="0" smtClean="0">
                <a:latin typeface="Californian FB" panose="0207040306080B030204" pitchFamily="18" charset="0"/>
              </a:rPr>
              <a:t> </a:t>
            </a:r>
            <a:endParaRPr lang="en-US" dirty="0">
              <a:latin typeface="Californian FB" panose="0207040306080B030204" pitchFamily="18" charset="0"/>
            </a:endParaRPr>
          </a:p>
          <a:p>
            <a:pPr algn="just">
              <a:buFont typeface="Wingdings" panose="05000000000000000000" pitchFamily="2" charset="2"/>
              <a:buChar char="q"/>
            </a:pPr>
            <a:endParaRPr lang="en-IN" dirty="0"/>
          </a:p>
        </p:txBody>
      </p:sp>
      <p:sp>
        <p:nvSpPr>
          <p:cNvPr id="4" name="Content Placeholder 3"/>
          <p:cNvSpPr>
            <a:spLocks noGrp="1"/>
          </p:cNvSpPr>
          <p:nvPr>
            <p:ph sz="half" idx="2"/>
          </p:nvPr>
        </p:nvSpPr>
        <p:spPr>
          <a:xfrm>
            <a:off x="5612929" y="1174944"/>
            <a:ext cx="4396341" cy="4200245"/>
          </a:xfrm>
        </p:spPr>
        <p:txBody>
          <a:bodyPr/>
          <a:lstStyle/>
          <a:p>
            <a:r>
              <a:rPr lang="en-US" sz="2800" b="1" dirty="0">
                <a:solidFill>
                  <a:schemeClr val="bg1"/>
                </a:solidFill>
              </a:rPr>
              <a:t>Solution Overview</a:t>
            </a:r>
          </a:p>
          <a:p>
            <a:pPr algn="just">
              <a:buFont typeface="Wingdings" panose="05000000000000000000" pitchFamily="2" charset="2"/>
              <a:buChar char="q"/>
            </a:pPr>
            <a:r>
              <a:rPr lang="en-US" dirty="0" smtClean="0">
                <a:latin typeface="Californian FB" panose="0207040306080B030204" pitchFamily="18" charset="0"/>
              </a:rPr>
              <a:t>AI-powered </a:t>
            </a:r>
            <a:r>
              <a:rPr lang="en-US" dirty="0">
                <a:latin typeface="Californian FB" panose="0207040306080B030204" pitchFamily="18" charset="0"/>
              </a:rPr>
              <a:t>system that: </a:t>
            </a:r>
          </a:p>
          <a:p>
            <a:pPr lvl="1" algn="just">
              <a:buFont typeface="Wingdings" panose="05000000000000000000" pitchFamily="2" charset="2"/>
              <a:buChar char="q"/>
            </a:pPr>
            <a:r>
              <a:rPr lang="en-US" sz="1800" dirty="0">
                <a:latin typeface="Californian FB" panose="0207040306080B030204" pitchFamily="18" charset="0"/>
              </a:rPr>
              <a:t>Detects fraud in real time </a:t>
            </a:r>
          </a:p>
          <a:p>
            <a:pPr lvl="1" algn="just">
              <a:buFont typeface="Wingdings" panose="05000000000000000000" pitchFamily="2" charset="2"/>
              <a:buChar char="q"/>
            </a:pPr>
            <a:r>
              <a:rPr lang="en-US" sz="1800" dirty="0">
                <a:latin typeface="Californian FB" panose="0207040306080B030204" pitchFamily="18" charset="0"/>
              </a:rPr>
              <a:t>Monitors user behavior </a:t>
            </a:r>
          </a:p>
          <a:p>
            <a:pPr lvl="1" algn="just">
              <a:buFont typeface="Wingdings" panose="05000000000000000000" pitchFamily="2" charset="2"/>
              <a:buChar char="q"/>
            </a:pPr>
            <a:r>
              <a:rPr lang="en-US" sz="1800" dirty="0">
                <a:latin typeface="Californian FB" panose="0207040306080B030204" pitchFamily="18" charset="0"/>
              </a:rPr>
              <a:t>Analyzes reputation risks </a:t>
            </a:r>
          </a:p>
          <a:p>
            <a:pPr algn="just">
              <a:buFont typeface="Wingdings" panose="05000000000000000000" pitchFamily="2" charset="2"/>
              <a:buChar char="q"/>
            </a:pPr>
            <a:r>
              <a:rPr lang="en-US" dirty="0">
                <a:latin typeface="Californian FB" panose="0207040306080B030204" pitchFamily="18" charset="0"/>
              </a:rPr>
              <a:t>Provides </a:t>
            </a:r>
            <a:r>
              <a:rPr lang="en-US" b="1" dirty="0">
                <a:latin typeface="Californian FB" panose="0207040306080B030204" pitchFamily="18" charset="0"/>
              </a:rPr>
              <a:t>instant decision-making</a:t>
            </a:r>
            <a:r>
              <a:rPr lang="en-US" dirty="0">
                <a:latin typeface="Californian FB" panose="0207040306080B030204" pitchFamily="18" charset="0"/>
              </a:rPr>
              <a:t> </a:t>
            </a:r>
          </a:p>
          <a:p>
            <a:pPr algn="just">
              <a:buFont typeface="Wingdings" panose="05000000000000000000" pitchFamily="2" charset="2"/>
              <a:buChar char="q"/>
            </a:pPr>
            <a:endParaRPr lang="en-IN" dirty="0">
              <a:latin typeface="Californian FB" panose="0207040306080B030204" pitchFamily="18" charset="0"/>
            </a:endParaRPr>
          </a:p>
        </p:txBody>
      </p:sp>
    </p:spTree>
    <p:extLst>
      <p:ext uri="{BB962C8B-B14F-4D97-AF65-F5344CB8AC3E}">
        <p14:creationId xmlns:p14="http://schemas.microsoft.com/office/powerpoint/2010/main" val="13235187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095000" y="466898"/>
            <a:ext cx="4396338" cy="576262"/>
          </a:xfrm>
        </p:spPr>
        <p:txBody>
          <a:bodyPr/>
          <a:lstStyle/>
          <a:p>
            <a:pPr algn="ctr"/>
            <a:r>
              <a:rPr lang="en-US" sz="3600" dirty="0" smtClean="0">
                <a:solidFill>
                  <a:schemeClr val="accent2">
                    <a:lumMod val="40000"/>
                    <a:lumOff val="60000"/>
                  </a:schemeClr>
                </a:solidFill>
              </a:rPr>
              <a:t>ADVANTAGES</a:t>
            </a:r>
            <a:endParaRPr lang="en-IN" sz="3600" dirty="0">
              <a:solidFill>
                <a:schemeClr val="accent2">
                  <a:lumMod val="40000"/>
                  <a:lumOff val="60000"/>
                </a:schemeClr>
              </a:solidFill>
            </a:endParaRPr>
          </a:p>
        </p:txBody>
      </p:sp>
      <p:sp>
        <p:nvSpPr>
          <p:cNvPr id="4" name="Content Placeholder 3"/>
          <p:cNvSpPr>
            <a:spLocks noGrp="1"/>
          </p:cNvSpPr>
          <p:nvPr>
            <p:ph sz="half" idx="2"/>
          </p:nvPr>
        </p:nvSpPr>
        <p:spPr>
          <a:xfrm>
            <a:off x="465512" y="1209499"/>
            <a:ext cx="5025826" cy="5224549"/>
          </a:xfrm>
        </p:spPr>
        <p:txBody>
          <a:bodyPr>
            <a:normAutofit fontScale="70000" lnSpcReduction="20000"/>
          </a:bodyPr>
          <a:lstStyle/>
          <a:p>
            <a:pPr marL="285750" indent="-285750" algn="just">
              <a:buFont typeface="Wingdings" panose="05000000000000000000" pitchFamily="2" charset="2"/>
              <a:buChar char="§"/>
            </a:pPr>
            <a:r>
              <a:rPr lang="en-US" sz="2600" b="1" dirty="0">
                <a:solidFill>
                  <a:schemeClr val="bg1"/>
                </a:solidFill>
              </a:rPr>
              <a:t>Real-Time Fraud Detection</a:t>
            </a:r>
          </a:p>
          <a:p>
            <a:pPr algn="just"/>
            <a:r>
              <a:rPr lang="en-US" sz="2600" dirty="0"/>
              <a:t>The system continuously monitors transactions and user behavior, allowing it to detect fraudulent activities instantly. </a:t>
            </a:r>
          </a:p>
          <a:p>
            <a:pPr marL="285750" indent="-285750" algn="just">
              <a:buFont typeface="Wingdings" panose="05000000000000000000" pitchFamily="2" charset="2"/>
              <a:buChar char="§"/>
            </a:pPr>
            <a:r>
              <a:rPr lang="en-US" sz="2600" b="1" dirty="0">
                <a:solidFill>
                  <a:schemeClr val="bg1"/>
                </a:solidFill>
              </a:rPr>
              <a:t>Proactive Risk Management</a:t>
            </a:r>
          </a:p>
          <a:p>
            <a:pPr algn="just"/>
            <a:r>
              <a:rPr lang="en-US" sz="2600" dirty="0"/>
              <a:t>AI Trust Guard identifies suspicious patterns and potential threats early, enabling organizations to take preventive action. </a:t>
            </a:r>
          </a:p>
          <a:p>
            <a:pPr marL="285750" indent="-285750" algn="just">
              <a:buFont typeface="Wingdings" panose="05000000000000000000" pitchFamily="2" charset="2"/>
              <a:buChar char="§"/>
            </a:pPr>
            <a:r>
              <a:rPr lang="en-US" sz="2600" b="1" dirty="0">
                <a:solidFill>
                  <a:schemeClr val="bg1"/>
                </a:solidFill>
              </a:rPr>
              <a:t>Improved Accuracy with AI</a:t>
            </a:r>
          </a:p>
          <a:p>
            <a:pPr algn="just"/>
            <a:r>
              <a:rPr lang="en-US" sz="2600" dirty="0"/>
              <a:t>Using machine learning and advanced analytics, the system improves detection accuracy over time. </a:t>
            </a:r>
          </a:p>
          <a:p>
            <a:pPr marL="285750" indent="-285750" algn="just">
              <a:buFont typeface="Wingdings" panose="05000000000000000000" pitchFamily="2" charset="2"/>
              <a:buChar char="§"/>
            </a:pPr>
            <a:r>
              <a:rPr lang="en-US" sz="2600" b="1" dirty="0">
                <a:solidFill>
                  <a:schemeClr val="bg1"/>
                </a:solidFill>
              </a:rPr>
              <a:t>Reputation Monitoring</a:t>
            </a:r>
          </a:p>
          <a:p>
            <a:pPr algn="just"/>
            <a:r>
              <a:rPr lang="en-US" sz="2600" dirty="0"/>
              <a:t>The system analyzes social media, reviews, and online content to track public sentiment. </a:t>
            </a:r>
          </a:p>
          <a:p>
            <a:endParaRPr lang="en-IN" dirty="0"/>
          </a:p>
        </p:txBody>
      </p:sp>
      <p:sp>
        <p:nvSpPr>
          <p:cNvPr id="5" name="Text Placeholder 4"/>
          <p:cNvSpPr>
            <a:spLocks noGrp="1"/>
          </p:cNvSpPr>
          <p:nvPr>
            <p:ph type="body" sz="quarter" idx="3"/>
          </p:nvPr>
        </p:nvSpPr>
        <p:spPr>
          <a:xfrm>
            <a:off x="6000648" y="466898"/>
            <a:ext cx="4396339" cy="576262"/>
          </a:xfrm>
        </p:spPr>
        <p:txBody>
          <a:bodyPr/>
          <a:lstStyle/>
          <a:p>
            <a:pPr algn="ctr"/>
            <a:r>
              <a:rPr lang="en-US" sz="3600" dirty="0" smtClean="0">
                <a:solidFill>
                  <a:schemeClr val="accent2">
                    <a:lumMod val="40000"/>
                    <a:lumOff val="60000"/>
                  </a:schemeClr>
                </a:solidFill>
              </a:rPr>
              <a:t>DISADVANTAGES</a:t>
            </a:r>
            <a:endParaRPr lang="en-IN" sz="3600" dirty="0">
              <a:solidFill>
                <a:schemeClr val="accent2">
                  <a:lumMod val="40000"/>
                  <a:lumOff val="60000"/>
                </a:schemeClr>
              </a:solidFill>
            </a:endParaRPr>
          </a:p>
        </p:txBody>
      </p:sp>
      <p:sp>
        <p:nvSpPr>
          <p:cNvPr id="6" name="Content Placeholder 5"/>
          <p:cNvSpPr>
            <a:spLocks noGrp="1"/>
          </p:cNvSpPr>
          <p:nvPr>
            <p:ph sz="quarter" idx="4"/>
          </p:nvPr>
        </p:nvSpPr>
        <p:spPr>
          <a:xfrm>
            <a:off x="6000648" y="1209500"/>
            <a:ext cx="5248705" cy="5224549"/>
          </a:xfrm>
        </p:spPr>
        <p:txBody>
          <a:bodyPr>
            <a:noAutofit/>
          </a:bodyPr>
          <a:lstStyle/>
          <a:p>
            <a:pPr marL="285750" indent="-285750" algn="just">
              <a:buFont typeface="Wingdings" panose="05000000000000000000" pitchFamily="2" charset="2"/>
              <a:buChar char="§"/>
            </a:pPr>
            <a:r>
              <a:rPr lang="en-US" sz="1600" b="1" dirty="0">
                <a:solidFill>
                  <a:schemeClr val="bg1"/>
                </a:solidFill>
              </a:rPr>
              <a:t>High Implementation Cost</a:t>
            </a:r>
          </a:p>
          <a:p>
            <a:pPr algn="just"/>
            <a:r>
              <a:rPr lang="en-US" sz="1600" dirty="0"/>
              <a:t>Developing and deploying such an AI system requires significant investment in infrastructure, data storage, and skilled professionals.</a:t>
            </a:r>
          </a:p>
          <a:p>
            <a:pPr marL="285750" indent="-285750" algn="just">
              <a:buFont typeface="Wingdings" panose="05000000000000000000" pitchFamily="2" charset="2"/>
              <a:buChar char="§"/>
            </a:pPr>
            <a:r>
              <a:rPr lang="en-US" sz="1600" b="1" dirty="0">
                <a:solidFill>
                  <a:schemeClr val="bg1"/>
                </a:solidFill>
              </a:rPr>
              <a:t>Data Privacy Concerns</a:t>
            </a:r>
          </a:p>
          <a:p>
            <a:pPr algn="just"/>
            <a:r>
              <a:rPr lang="en-US" sz="1600" dirty="0"/>
              <a:t>The system relies on collecting and analyzing large amounts of user data, which raises concerns about privacy and data protection. </a:t>
            </a:r>
          </a:p>
          <a:p>
            <a:pPr marL="285750" indent="-285750" algn="just">
              <a:buFont typeface="Wingdings" panose="05000000000000000000" pitchFamily="2" charset="2"/>
              <a:buChar char="§"/>
            </a:pPr>
            <a:r>
              <a:rPr lang="en-US" sz="1600" b="1" dirty="0">
                <a:solidFill>
                  <a:schemeClr val="bg1"/>
                </a:solidFill>
              </a:rPr>
              <a:t>False Positives</a:t>
            </a:r>
          </a:p>
          <a:p>
            <a:pPr algn="just"/>
            <a:r>
              <a:rPr lang="en-US" sz="1600" dirty="0"/>
              <a:t>AI models may sometimes incorrectly flag legitimate activities as fraudulent..</a:t>
            </a:r>
          </a:p>
          <a:p>
            <a:pPr marL="285750" indent="-285750" algn="just">
              <a:buFont typeface="Wingdings" panose="05000000000000000000" pitchFamily="2" charset="2"/>
              <a:buChar char="§"/>
            </a:pPr>
            <a:r>
              <a:rPr lang="en-US" sz="1600" b="1" dirty="0">
                <a:solidFill>
                  <a:schemeClr val="bg1"/>
                </a:solidFill>
              </a:rPr>
              <a:t>Dependence on Data Quality</a:t>
            </a:r>
          </a:p>
          <a:p>
            <a:pPr algn="just"/>
            <a:r>
              <a:rPr lang="en-US" sz="1600" dirty="0"/>
              <a:t>The accuracy of the system depends heavily on the quality and quantity of data. </a:t>
            </a:r>
          </a:p>
          <a:p>
            <a:endParaRPr lang="en-IN" sz="1600" dirty="0"/>
          </a:p>
        </p:txBody>
      </p:sp>
    </p:spTree>
    <p:extLst>
      <p:ext uri="{BB962C8B-B14F-4D97-AF65-F5344CB8AC3E}">
        <p14:creationId xmlns:p14="http://schemas.microsoft.com/office/powerpoint/2010/main" val="16996193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sz="half" idx="2"/>
          </p:nvPr>
        </p:nvSpPr>
        <p:spPr>
          <a:xfrm>
            <a:off x="6417425" y="2698491"/>
            <a:ext cx="5311833" cy="3973483"/>
          </a:xfrm>
        </p:spPr>
        <p:txBody>
          <a:bodyPr>
            <a:normAutofit/>
          </a:bodyPr>
          <a:lstStyle/>
          <a:p>
            <a:r>
              <a:rPr lang="en-US" sz="2800" b="1" dirty="0">
                <a:solidFill>
                  <a:schemeClr val="accent2">
                    <a:lumMod val="40000"/>
                    <a:lumOff val="60000"/>
                  </a:schemeClr>
                </a:solidFill>
              </a:rPr>
              <a:t>How It Works</a:t>
            </a:r>
            <a:r>
              <a:rPr lang="en-US" dirty="0"/>
              <a:t/>
            </a:r>
            <a:br>
              <a:rPr lang="en-US" dirty="0"/>
            </a:br>
            <a:endParaRPr lang="en-US" dirty="0" smtClean="0"/>
          </a:p>
          <a:p>
            <a:pPr algn="just"/>
            <a:r>
              <a:rPr lang="en-US" sz="1900" dirty="0" smtClean="0">
                <a:latin typeface="Californian FB" panose="0207040306080B030204" pitchFamily="18" charset="0"/>
              </a:rPr>
              <a:t>The </a:t>
            </a:r>
            <a:r>
              <a:rPr lang="en-US" sz="1900" dirty="0">
                <a:latin typeface="Californian FB" panose="0207040306080B030204" pitchFamily="18" charset="0"/>
              </a:rPr>
              <a:t>system works by collecting user and transaction data from different sources. It analyzes this data using AI and machine learning algorithms. It studies behavior patterns to identify unusual activities. When suspicious behavior is detected, it flags it immediately. The system then generates alerts for further action. This helps in preventing fraud at an early stage. It ensures quick and effective response to risks.</a:t>
            </a:r>
            <a:endParaRPr lang="en-IN" sz="1900" dirty="0">
              <a:latin typeface="Californian FB" panose="0207040306080B030204" pitchFamily="18" charset="0"/>
            </a:endParaRPr>
          </a:p>
        </p:txBody>
      </p:sp>
      <p:sp>
        <p:nvSpPr>
          <p:cNvPr id="5" name="Title 1"/>
          <p:cNvSpPr>
            <a:spLocks noGrp="1"/>
          </p:cNvSpPr>
          <p:nvPr>
            <p:ph sz="half" idx="1"/>
          </p:nvPr>
        </p:nvSpPr>
        <p:spPr>
          <a:xfrm>
            <a:off x="590203" y="257694"/>
            <a:ext cx="4946073" cy="4427538"/>
          </a:xfrm>
        </p:spPr>
        <p:txBody>
          <a:bodyPr>
            <a:normAutofit/>
          </a:bodyPr>
          <a:lstStyle/>
          <a:p>
            <a:r>
              <a:rPr lang="en-US" sz="2800" b="1" dirty="0">
                <a:solidFill>
                  <a:schemeClr val="accent2">
                    <a:lumMod val="40000"/>
                    <a:lumOff val="60000"/>
                  </a:schemeClr>
                </a:solidFill>
              </a:rPr>
              <a:t>Key Features</a:t>
            </a:r>
            <a:r>
              <a:rPr lang="en-US" sz="2800" dirty="0"/>
              <a:t/>
            </a:r>
            <a:br>
              <a:rPr lang="en-US" sz="2800" dirty="0"/>
            </a:br>
            <a:endParaRPr lang="en-US" sz="2800" dirty="0"/>
          </a:p>
          <a:p>
            <a:pPr algn="just"/>
            <a:r>
              <a:rPr lang="en-US" sz="2000" dirty="0" smtClean="0">
                <a:latin typeface="Californian FB" panose="0207040306080B030204" pitchFamily="18" charset="0"/>
              </a:rPr>
              <a:t>AI </a:t>
            </a:r>
            <a:r>
              <a:rPr lang="en-US" sz="2000" dirty="0">
                <a:latin typeface="Californian FB" panose="0207040306080B030204" pitchFamily="18" charset="0"/>
              </a:rPr>
              <a:t>Trust Guard offers several important features for security and monitoring. It provides real-time monitoring of user activities and transactions. The system includes an advanced fraud detection mechanism. It uses risk scoring to evaluate potential threats. It sends alerts and notifications for suspicious actions. It also includes a data analysis dashboard for better insights</a:t>
            </a:r>
            <a:r>
              <a:rPr lang="en-US" sz="2000" dirty="0" smtClean="0">
                <a:latin typeface="Californian FB" panose="0207040306080B030204" pitchFamily="18" charset="0"/>
              </a:rPr>
              <a:t>.</a:t>
            </a:r>
            <a:endParaRPr lang="en-IN" dirty="0">
              <a:latin typeface="Californian FB" panose="0207040306080B030204" pitchFamily="18" charset="0"/>
            </a:endParaRPr>
          </a:p>
        </p:txBody>
      </p:sp>
    </p:spTree>
    <p:extLst>
      <p:ext uri="{BB962C8B-B14F-4D97-AF65-F5344CB8AC3E}">
        <p14:creationId xmlns:p14="http://schemas.microsoft.com/office/powerpoint/2010/main" val="39403278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87180" y="884979"/>
            <a:ext cx="9404723" cy="835755"/>
          </a:xfrm>
        </p:spPr>
        <p:txBody>
          <a:bodyPr/>
          <a:lstStyle/>
          <a:p>
            <a:r>
              <a:rPr lang="en-US" dirty="0" smtClean="0"/>
              <a:t>                  </a:t>
            </a:r>
            <a:r>
              <a:rPr lang="en-US" dirty="0" smtClean="0">
                <a:solidFill>
                  <a:schemeClr val="accent2">
                    <a:lumMod val="40000"/>
                    <a:lumOff val="60000"/>
                  </a:schemeClr>
                </a:solidFill>
              </a:rPr>
              <a:t>APPLICATIONS</a:t>
            </a:r>
            <a:endParaRPr lang="en-IN" dirty="0">
              <a:solidFill>
                <a:schemeClr val="accent2">
                  <a:lumMod val="40000"/>
                  <a:lumOff val="60000"/>
                </a:schemeClr>
              </a:solidFill>
            </a:endParaRPr>
          </a:p>
        </p:txBody>
      </p:sp>
      <p:sp>
        <p:nvSpPr>
          <p:cNvPr id="3" name="Content Placeholder 2"/>
          <p:cNvSpPr>
            <a:spLocks noGrp="1"/>
          </p:cNvSpPr>
          <p:nvPr>
            <p:ph idx="1"/>
          </p:nvPr>
        </p:nvSpPr>
        <p:spPr>
          <a:xfrm>
            <a:off x="1420178" y="2260737"/>
            <a:ext cx="8946541" cy="2635460"/>
          </a:xfrm>
        </p:spPr>
        <p:txBody>
          <a:bodyPr>
            <a:normAutofit/>
          </a:bodyPr>
          <a:lstStyle/>
          <a:p>
            <a:pPr algn="just"/>
            <a:r>
              <a:rPr lang="en-US" sz="2400" dirty="0">
                <a:latin typeface="Baskerville Old Face" panose="02020602080505020303" pitchFamily="18" charset="0"/>
              </a:rPr>
              <a:t>AI Trust Guard is used in various industries where security is important. It is widely used in banking and financial services. E-commerce platforms use it to prevent online fraud. Social media networks use it to detect fake accounts. Insurance companies use it to reduce claim fraud. It is also useful in many other digital sectors. Its applications are growing rapidly.</a:t>
            </a:r>
            <a:endParaRPr lang="en-IN" sz="2400" dirty="0">
              <a:latin typeface="Baskerville Old Face" panose="02020602080505020303" pitchFamily="18" charset="0"/>
            </a:endParaRPr>
          </a:p>
        </p:txBody>
      </p:sp>
    </p:spTree>
    <p:extLst>
      <p:ext uri="{BB962C8B-B14F-4D97-AF65-F5344CB8AC3E}">
        <p14:creationId xmlns:p14="http://schemas.microsoft.com/office/powerpoint/2010/main" val="20817155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3478" y="818478"/>
            <a:ext cx="9404723" cy="785878"/>
          </a:xfrm>
        </p:spPr>
        <p:txBody>
          <a:bodyPr/>
          <a:lstStyle/>
          <a:p>
            <a:pPr algn="ctr"/>
            <a:r>
              <a:rPr lang="en-US" dirty="0" smtClean="0">
                <a:solidFill>
                  <a:schemeClr val="accent2">
                    <a:lumMod val="40000"/>
                    <a:lumOff val="60000"/>
                  </a:schemeClr>
                </a:solidFill>
              </a:rPr>
              <a:t>CONCLUSION</a:t>
            </a:r>
            <a:endParaRPr lang="en-IN" dirty="0">
              <a:solidFill>
                <a:schemeClr val="accent2">
                  <a:lumMod val="40000"/>
                  <a:lumOff val="60000"/>
                </a:schemeClr>
              </a:solidFill>
            </a:endParaRPr>
          </a:p>
        </p:txBody>
      </p:sp>
      <p:sp>
        <p:nvSpPr>
          <p:cNvPr id="3" name="Content Placeholder 2"/>
          <p:cNvSpPr>
            <a:spLocks noGrp="1"/>
          </p:cNvSpPr>
          <p:nvPr>
            <p:ph idx="1"/>
          </p:nvPr>
        </p:nvSpPr>
        <p:spPr>
          <a:xfrm>
            <a:off x="1402568" y="2102796"/>
            <a:ext cx="8946541" cy="2951344"/>
          </a:xfrm>
        </p:spPr>
        <p:txBody>
          <a:bodyPr>
            <a:normAutofit/>
          </a:bodyPr>
          <a:lstStyle/>
          <a:p>
            <a:pPr algn="just"/>
            <a:r>
              <a:rPr lang="en-US" sz="2400" dirty="0">
                <a:latin typeface="Californian FB" panose="0207040306080B030204" pitchFamily="18" charset="0"/>
              </a:rPr>
              <a:t>AI Trust Guard is an essential tool for modern cybersecurity. It helps in detecting and preventing fraud effectively. The system improves security and builds trust in digital platforms. It supports quick decision-making through real-time alerts. It reduces risks and protects organizations from losses. It plays a key role in maintaining safe digital environments. Overall, it is a powerful solution for fraud prevention.</a:t>
            </a:r>
            <a:endParaRPr lang="en-IN" sz="2400" dirty="0">
              <a:latin typeface="Californian FB" panose="0207040306080B030204" pitchFamily="18" charset="0"/>
            </a:endParaRPr>
          </a:p>
        </p:txBody>
      </p:sp>
    </p:spTree>
    <p:extLst>
      <p:ext uri="{BB962C8B-B14F-4D97-AF65-F5344CB8AC3E}">
        <p14:creationId xmlns:p14="http://schemas.microsoft.com/office/powerpoint/2010/main" val="224554207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docProps/app.xml><?xml version="1.0" encoding="utf-8"?>
<Properties xmlns="http://schemas.openxmlformats.org/officeDocument/2006/extended-properties" xmlns:vt="http://schemas.openxmlformats.org/officeDocument/2006/docPropsVTypes">
  <Template>Ion</Template>
  <TotalTime>150</TotalTime>
  <Words>428</Words>
  <Application>Microsoft Office PowerPoint</Application>
  <PresentationFormat>Widescreen</PresentationFormat>
  <Paragraphs>44</Paragraphs>
  <Slides>7</Slides>
  <Notes>0</Notes>
  <HiddenSlides>0</HiddenSlides>
  <MMClips>0</MMClips>
  <ScaleCrop>false</ScaleCrop>
  <HeadingPairs>
    <vt:vector size="8" baseType="variant">
      <vt:variant>
        <vt:lpstr>Fonts Used</vt:lpstr>
      </vt:variant>
      <vt:variant>
        <vt:i4>7</vt:i4>
      </vt:variant>
      <vt:variant>
        <vt:lpstr>Theme</vt:lpstr>
      </vt:variant>
      <vt:variant>
        <vt:i4>1</vt:i4>
      </vt:variant>
      <vt:variant>
        <vt:lpstr>Embedded OLE Servers</vt:lpstr>
      </vt:variant>
      <vt:variant>
        <vt:i4>1</vt:i4>
      </vt:variant>
      <vt:variant>
        <vt:lpstr>Slide Titles</vt:lpstr>
      </vt:variant>
      <vt:variant>
        <vt:i4>7</vt:i4>
      </vt:variant>
    </vt:vector>
  </HeadingPairs>
  <TitlesOfParts>
    <vt:vector size="16" baseType="lpstr">
      <vt:lpstr>Arial</vt:lpstr>
      <vt:lpstr>Baskerville Old Face</vt:lpstr>
      <vt:lpstr>Californian FB</vt:lpstr>
      <vt:lpstr>Century Gothic</vt:lpstr>
      <vt:lpstr>Copperplate Gothic Light</vt:lpstr>
      <vt:lpstr>Wingdings</vt:lpstr>
      <vt:lpstr>Wingdings 3</vt:lpstr>
      <vt:lpstr>Ion</vt:lpstr>
      <vt:lpstr>Microsoft Word Document</vt:lpstr>
      <vt:lpstr>AI Trust Guard : Fake Review Detection Agent</vt:lpstr>
      <vt:lpstr>PowerPoint Presentation</vt:lpstr>
      <vt:lpstr>PowerPoint Presentation</vt:lpstr>
      <vt:lpstr>PowerPoint Presentation</vt:lpstr>
      <vt:lpstr>PowerPoint Presentation</vt:lpstr>
      <vt:lpstr>                  APPLICATIONS</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Trust Guard : Real Time Fraud and Reputation Risk Intelligence System</dc:title>
  <dc:creator>Student</dc:creator>
  <cp:lastModifiedBy>Student</cp:lastModifiedBy>
  <cp:revision>11</cp:revision>
  <dcterms:created xsi:type="dcterms:W3CDTF">2026-04-10T05:23:52Z</dcterms:created>
  <dcterms:modified xsi:type="dcterms:W3CDTF">2026-04-10T07:57:27Z</dcterms:modified>
</cp:coreProperties>
</file>